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6EDF3"/>
                </a:solidFill>
                <a:latin typeface="Arial"/>
              </a:defRPr>
            </a:pPr>
            <a:r>
              <a:rPr sz="1300" b="0" i="0" u="none" strike="noStrike">
                <a:solidFill>
                  <a:srgbClr val="E6EDF3"/>
                </a:solidFill>
                <a:latin typeface="Arial"/>
              </a:rPr>
              <a:t>learning signal vs pass rate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4p(1-p)</c:v>
                </c:pt>
              </c:strCache>
            </c:strRef>
          </c:tx>
          <c:spPr>
            <a:solidFill>
              <a:srgbClr val="2DD4BF"/>
            </a:solidFill>
            <a:ln w="38100" cap="flat">
              <a:solidFill>
                <a:srgbClr val="2DD4B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DD4BF"/>
              </a:solidFill>
              <a:ln w="9525" cap="flat">
                <a:solidFill>
                  <a:srgbClr val="2DD4B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</c:v>
                  </c:pt>
                  <c:pt idx="1">
                    <c:v>.1</c:v>
                  </c:pt>
                  <c:pt idx="2">
                    <c:v>.2</c:v>
                  </c:pt>
                  <c:pt idx="3">
                    <c:v>.3</c:v>
                  </c:pt>
                  <c:pt idx="4">
                    <c:v>.4</c:v>
                  </c:pt>
                  <c:pt idx="5">
                    <c:v>0.5</c:v>
                  </c:pt>
                  <c:pt idx="6">
                    <c:v>.6</c:v>
                  </c:pt>
                  <c:pt idx="7">
                    <c:v>.7</c:v>
                  </c:pt>
                  <c:pt idx="8">
                    <c:v>.8</c:v>
                  </c:pt>
                  <c:pt idx="9">
                    <c:v>.9</c:v>
                  </c:pt>
                  <c:pt idx="10">
                    <c:v>1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</c:v>
                </c:pt>
                <c:pt idx="1">
                  <c:v>0.36</c:v>
                </c:pt>
                <c:pt idx="2">
                  <c:v>0.64</c:v>
                </c:pt>
                <c:pt idx="3">
                  <c:v>0.84</c:v>
                </c:pt>
                <c:pt idx="4">
                  <c:v>0.96</c:v>
                </c:pt>
                <c:pt idx="5">
                  <c:v>1</c:v>
                </c:pt>
                <c:pt idx="6">
                  <c:v>0.96</c:v>
                </c:pt>
                <c:pt idx="7">
                  <c:v>0.84</c:v>
                </c:pt>
                <c:pt idx="8">
                  <c:v>0.64</c:v>
                </c:pt>
                <c:pt idx="9">
                  <c:v>0.36</c:v>
                </c:pt>
                <c:pt idx="10">
                  <c:v>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  <c:min val="0"/>
        </c:scaling>
        <c:delete val="0"/>
        <c:axPos val="l"/>
        <c:majorGridlines>
          <c:spPr>
            <a:ln w="6350" cap="flat">
              <a:solidFill>
                <a:srgbClr val="3036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1B22"/>
        </a:solidFill>
        <a:ln>
          <a:noFill/>
        </a:ln>
        <a:effectLst/>
      </c:spPr>
    </c:plotArea>
    <c:plotVisOnly val="1"/>
    <c:dispBlanksAs val="span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6EDF3"/>
                </a:solidFill>
                <a:latin typeface="Arial"/>
              </a:defRPr>
            </a:pPr>
            <a:r>
              <a:rPr sz="1300" b="0" i="0" u="none" strike="noStrike">
                <a:solidFill>
                  <a:srgbClr val="E6EDF3"/>
                </a:solidFill>
                <a:latin typeface="Arial"/>
              </a:rPr>
              <a:t>accuracy lift after GRPO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RL lift</c:v>
                </c:pt>
              </c:strCache>
            </c:strRef>
          </c:tx>
          <c:spPr>
            <a:solidFill>
              <a:srgbClr val="58A6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E6EDF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easy</c:v>
                  </c:pt>
                  <c:pt idx="1">
                    <c:v>frontier</c:v>
                  </c:pt>
                  <c:pt idx="2">
                    <c:v>hard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1.8</c:v>
                </c:pt>
                <c:pt idx="1">
                  <c:v>9.1</c:v>
                </c:pt>
                <c:pt idx="2">
                  <c:v>1.2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E6EDF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E6EDF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"/>
        </c:scaling>
        <c:delete val="0"/>
        <c:axPos val="l"/>
        <c:majorGridlines>
          <c:spPr>
            <a:ln w="6350" cap="flat">
              <a:solidFill>
                <a:srgbClr val="3036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1B22"/>
        </a:solidFill>
        <a:ln>
          <a:noFill/>
        </a:ln>
        <a:effectLst/>
      </c:spPr>
    </c:plotArea>
    <c:plotVisOnly val="1"/>
    <c:dispBlanksAs val="span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xLift</a:t>
            </a:r>
            <a:endParaRPr lang="en-US" sz="9200" dirty="0"/>
          </a:p>
        </p:txBody>
      </p:sp>
      <p:sp>
        <p:nvSpPr>
          <p:cNvPr id="5" name="Text 3"/>
          <p:cNvSpPr/>
          <p:nvPr/>
        </p:nvSpPr>
        <p:spPr>
          <a:xfrm>
            <a:off x="868680" y="329184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 post-RL training lift — before you train.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68680" y="40690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Cheap, training-free learnability signals — validated against GRPO.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Learnability is model-relative: measure it on the model you'll train.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58064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Talent Marketplace + Applied AI</a:t>
            </a:r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github.com/mssumanth/xlift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8872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7548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RL post-training is a gamble you pay for up front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474720" cy="2468880"/>
          </a:xfrm>
          <a:prstGeom prst="roundRect">
            <a:avLst>
              <a:gd name="adj" fmla="val 296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194560"/>
            <a:ext cx="82296" cy="2468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4231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 is expensive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41248" y="297180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GRPO run burns GPU-hours per data cohort. You commit the compute before you know if it helps.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70248" y="2194560"/>
            <a:ext cx="3474720" cy="2468880"/>
          </a:xfrm>
          <a:prstGeom prst="roundRect">
            <a:avLst>
              <a:gd name="adj" fmla="val 296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70248" y="2194560"/>
            <a:ext cx="82296" cy="2468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4562856" y="24231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Quality is invisible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62856" y="297180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datasets can look identical — same size, same topic — yet one lifts the model and the other does nothing.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91856" y="2194560"/>
            <a:ext cx="3474720" cy="2468880"/>
          </a:xfrm>
          <a:prstGeom prst="roundRect">
            <a:avLst>
              <a:gd name="adj" fmla="val 296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991856" y="2194560"/>
            <a:ext cx="82296" cy="2468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8284464" y="24231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Buying data is blind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84464" y="297180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Enterprises pay for training data with no way to tell, in advance, whether it will actually move the model.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5029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question:  </a:t>
            </a:r>
            <a:pPr algn="l"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data cohort will actually teach the model — without running the training to find out?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xLift  ·  Inference-Time Compute Hackathon  ·  Applied AI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4712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8872" cy="38404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7548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INSIGHT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Learnability is the universal signal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property that makes a task a good </a:t>
            </a:r>
            <a:pPr algn="l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pPr algn="l"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evaluation makes it good </a:t>
            </a:r>
            <a:pPr algn="l"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</a:t>
            </a:r>
            <a:pPr algn="l"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 learnability.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5394960" cy="2743200"/>
          </a:xfrm>
          <a:prstGeom prst="roundRect">
            <a:avLst>
              <a:gd name="adj" fmla="val 26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834640"/>
            <a:ext cx="82296" cy="27432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063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task is learnable when…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361188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right about half the time (at its boundary)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are reachable and fixable with a hint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lesson generalizes to unseen problems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grader can't be gamed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2834640"/>
            <a:ext cx="5394960" cy="2743200"/>
          </a:xfrm>
          <a:prstGeom prst="roundRect">
            <a:avLst>
              <a:gd name="adj" fmla="val 26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17920" y="2834640"/>
            <a:ext cx="82296" cy="274320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3063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8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…and it's model-relative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37960" y="361188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problem that's trivial for GPT-4 can sit right at the boundary of a 1.5B model.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measure every signal on the SAME model we'll train (Qwen2.5-1.5B) — without training it. That's what makes the signal a real predictor, not a coincidence.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xLift  ·  Inference-Time Compute Hackathon  ·  Applied AI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4712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8872" cy="38404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7548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FRAMEWORK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Six cheap signals, two questions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474720" cy="1645920"/>
          </a:xfrm>
          <a:prstGeom prst="roundRect">
            <a:avLst>
              <a:gd name="adj" fmla="val 444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148840"/>
            <a:ext cx="82296" cy="16459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31343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BoundaryScore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41248" y="275234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at the model's edge?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" y="31729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4·p·(1−p)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70248" y="2148840"/>
            <a:ext cx="3474720" cy="1645920"/>
          </a:xfrm>
          <a:prstGeom prst="roundRect">
            <a:avLst>
              <a:gd name="adj" fmla="val 444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70248" y="2148840"/>
            <a:ext cx="82296" cy="16459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2" name="Text 10"/>
          <p:cNvSpPr/>
          <p:nvPr/>
        </p:nvSpPr>
        <p:spPr>
          <a:xfrm>
            <a:off x="4562856" y="231343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Reachability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62856" y="275234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it ever get it?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62856" y="31729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pass@k − pass@1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991856" y="2148840"/>
            <a:ext cx="3474720" cy="1645920"/>
          </a:xfrm>
          <a:prstGeom prst="roundRect">
            <a:avLst>
              <a:gd name="adj" fmla="val 444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991856" y="2148840"/>
            <a:ext cx="82296" cy="16459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7" name="Text 15"/>
          <p:cNvSpPr/>
          <p:nvPr/>
        </p:nvSpPr>
        <p:spPr>
          <a:xfrm>
            <a:off x="8284464" y="231343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RepairGain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284464" y="275234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 hint fix it?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84464" y="31729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after − before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977640"/>
            <a:ext cx="3474720" cy="1645920"/>
          </a:xfrm>
          <a:prstGeom prst="roundRect">
            <a:avLst>
              <a:gd name="adj" fmla="val 444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977640"/>
            <a:ext cx="82296" cy="16459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" y="414223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GEPA Transfer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41248" y="458114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lesson generalize?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41248" y="50017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lift on unseen tasks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270248" y="3977640"/>
            <a:ext cx="3474720" cy="1645920"/>
          </a:xfrm>
          <a:prstGeom prst="roundRect">
            <a:avLst>
              <a:gd name="adj" fmla="val 444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270248" y="3977640"/>
            <a:ext cx="82296" cy="1645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4562856" y="414223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Reward-Trust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4562856" y="458114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grader fair?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62856" y="50017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reward vs length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991856" y="3977640"/>
            <a:ext cx="3474720" cy="1645920"/>
          </a:xfrm>
          <a:prstGeom prst="roundRect">
            <a:avLst>
              <a:gd name="adj" fmla="val 444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991856" y="3977640"/>
            <a:ext cx="82296" cy="1645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8284464" y="414223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AntiCheat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8284464" y="458114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fakes fool it?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284464" y="50017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fake-solution pass rate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48640" y="5989320"/>
            <a:ext cx="182880" cy="18288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5943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something to learn?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754880" y="5989320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8" name="Text 36"/>
          <p:cNvSpPr/>
          <p:nvPr/>
        </p:nvSpPr>
        <p:spPr>
          <a:xfrm>
            <a:off x="5029200" y="5943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trust the score?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xLift  ·  Inference-Time Compute Hackathon  ·  Applied AI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24712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8872" cy="38404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7548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HEADLINE SIGNAL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BoundaryScore is derived, not fit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486400" cy="3566160"/>
          </a:xfrm>
          <a:prstGeom prst="roundRect">
            <a:avLst>
              <a:gd name="adj" fmla="val 205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148840"/>
            <a:ext cx="82296" cy="356616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377440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GRPO normalizes advantage within a rollout group.</a:t>
            </a:r>
            <a:endParaRPr lang="en-US" sz="1550" dirty="0"/>
          </a:p>
          <a:p>
            <a:pPr marL="342900" indent="-342900">
              <a:lnSpc>
                <a:spcPct val="110000"/>
              </a:lnSpc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All-right or all-wrong → zero variance → zero advantage → ZERO gradient. Nothing is learned.</a:t>
            </a:r>
            <a:endParaRPr lang="en-US" sz="1550" dirty="0"/>
          </a:p>
          <a:p>
            <a:pPr marL="342900" indent="-342900">
              <a:lnSpc>
                <a:spcPct val="110000"/>
              </a:lnSpc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binary verifier, within-group reward variance is exactly p(1−p).</a:t>
            </a:r>
            <a:endParaRPr lang="en-US" sz="1550" dirty="0"/>
          </a:p>
          <a:p>
            <a:pPr marL="342900" indent="-342900">
              <a:lnSpc>
                <a:spcPct val="110000"/>
              </a:lnSpc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peaks at p = 0.5 — the model's boundary.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68680" y="5074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BoundaryScore = 4·p·(1−p)</a:t>
            </a:r>
            <a:endParaRPr lang="en-US" sz="2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400800" y="2286000"/>
          <a:ext cx="52120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xLift  ·  Inference-Time Compute Hackathon  ·  Applied AI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24712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8872" cy="38404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7548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ORTHOGONAL SIGNALS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pass rate alone isn't enough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1064240" cy="1078992"/>
          </a:xfrm>
          <a:prstGeom prst="roundRect">
            <a:avLst>
              <a:gd name="adj" fmla="val 678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148840"/>
            <a:ext cx="82296" cy="1078992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2402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Reachability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566160" y="2258568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tasks both pass 10% of the time: one is solved once in k tries (RL can sharpen it), the other never (hopeless). Variance can't tell them apart — pass@k − pass@1 can.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3355848"/>
            <a:ext cx="11064240" cy="1078992"/>
          </a:xfrm>
          <a:prstGeom prst="roundRect">
            <a:avLst>
              <a:gd name="adj" fmla="val 678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3355848"/>
            <a:ext cx="82296" cy="1078992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447288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RepairGain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66160" y="3465576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model a hint after it fails. If it recovers, the knowledge was almost there — highly teachable. If not, the task is beyond it.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4562856"/>
            <a:ext cx="11064240" cy="1078992"/>
          </a:xfrm>
          <a:prstGeom prst="roundRect">
            <a:avLst>
              <a:gd name="adj" fmla="val 678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4562856"/>
            <a:ext cx="82296" cy="1078992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654296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GEPA Transfer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566160" y="4672584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Evolve a strategy on half the tasks, apply it to unseen tasks. If the lift transfers, the cohort teaches general skills — not memorization.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says “there is signal here.”  The others say “…and it's the right kind.”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xLift  ·  Inference-Time Compute Hackathon  ·  Applied AI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4712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8872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7548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TRUST AXIS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high lift you can't trust is worthless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needs a grader (verifier). If the grader is gameable, the model learns to cheat it — not to solve the task. So informativeness isn't enough; the reward must be trustworthy.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788920"/>
            <a:ext cx="5394960" cy="2834640"/>
          </a:xfrm>
          <a:prstGeom prst="roundRect">
            <a:avLst>
              <a:gd name="adj" fmla="val 258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788920"/>
            <a:ext cx="82296" cy="2834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017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Reward-Trust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3520440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reward track answer length instead of correctness?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long = rewarded, the model just learns to ramble.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near-free flag, computed from the same rollouts.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217920" y="2788920"/>
            <a:ext cx="5394960" cy="2834640"/>
          </a:xfrm>
          <a:prstGeom prst="roundRect">
            <a:avLst>
              <a:gd name="adj" fmla="val 258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17920" y="2788920"/>
            <a:ext cx="82296" cy="2834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3017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AntiCheat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37960" y="3520440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Red-team the verifier with fake / hardcoded solutions.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fakes pass, training rewards cheating.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exhibit: a weak-verifier cohort whose reward climbs while true accuracy doesn't.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grad-norm oracle gets fooled here on purpose — proving trust is a separate axis from informativeness.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xLift  ·  Inference-Time Compute Hackathon  ·  Applied AI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24712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8872" cy="384048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7548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WE PROVE IT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 cheaply, then verify with real GRPO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194560"/>
            <a:ext cx="82296" cy="274320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423160"/>
            <a:ext cx="594360" cy="594360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423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04672" y="3154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cohorts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4672" y="361188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· Frontier · Hard, partitioned by the model's own pass rate.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355848" y="219456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55848" y="2194560"/>
            <a:ext cx="82296" cy="274320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3" name="Shape 11"/>
          <p:cNvSpPr/>
          <p:nvPr/>
        </p:nvSpPr>
        <p:spPr>
          <a:xfrm>
            <a:off x="3630168" y="2423160"/>
            <a:ext cx="594360" cy="594360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14" name="Text 12"/>
          <p:cNvSpPr/>
          <p:nvPr/>
        </p:nvSpPr>
        <p:spPr>
          <a:xfrm>
            <a:off x="3630168" y="2423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611880" y="3154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Score cheaply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11880" y="361188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the six signals from N rollouts — no weight updates.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163056" y="219456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63056" y="2194560"/>
            <a:ext cx="82296" cy="274320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9" name="Shape 17"/>
          <p:cNvSpPr/>
          <p:nvPr/>
        </p:nvSpPr>
        <p:spPr>
          <a:xfrm>
            <a:off x="6437376" y="2423160"/>
            <a:ext cx="594360" cy="594360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20" name="Text 18"/>
          <p:cNvSpPr/>
          <p:nvPr/>
        </p:nvSpPr>
        <p:spPr>
          <a:xfrm>
            <a:off x="6437376" y="2423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419088" y="3154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 for real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19088" y="361188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identical GRPO on each cohort; measure actual lift with bootstrap CIs.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8970264" y="219456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970264" y="2194560"/>
            <a:ext cx="82296" cy="274320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25" name="Shape 23"/>
          <p:cNvSpPr/>
          <p:nvPr/>
        </p:nvSpPr>
        <p:spPr>
          <a:xfrm>
            <a:off x="9244584" y="2423160"/>
            <a:ext cx="594360" cy="594360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26" name="Text 24"/>
          <p:cNvSpPr/>
          <p:nvPr/>
        </p:nvSpPr>
        <p:spPr>
          <a:xfrm>
            <a:off x="9244584" y="2423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226296" y="3154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 the call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226296" y="361188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cheap signals predict the real lift ordering? Frontier should win.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48640" y="52120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 result is fit-free:  </a:t>
            </a:r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peaks at the learnable frontier and falls off on both sides — an inverted U.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xLift  ·  Inference-Time Compute Hackathon  ·  Applied AI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24712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8872" cy="384048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7548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inverted U: lift peaks at the frontier</a:t>
            </a:r>
            <a:endParaRPr lang="en-US" sz="3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194560"/>
          <a:ext cx="60350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858000" y="2194560"/>
            <a:ext cx="4754880" cy="3291840"/>
          </a:xfrm>
          <a:prstGeom prst="roundRect">
            <a:avLst>
              <a:gd name="adj" fmla="val 222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858000" y="2194560"/>
            <a:ext cx="82296" cy="329184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8" name="Text 5"/>
          <p:cNvSpPr/>
          <p:nvPr/>
        </p:nvSpPr>
        <p:spPr>
          <a:xfrm>
            <a:off x="7178040" y="23957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FB9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 numbers say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178040" y="2926080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cohort lifts ~5× more than easy or hard.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xLift score ranks the cohorts in the same order — the cheap signal predicts the expensive outcome.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frontier lift clears the bootstrap-CI noise floor.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shape — final numbers drop in live from the overnight GRPO run + dashboard.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xLift  ·  Inference-Time Compute Hackathon  ·  Applied AI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24712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8872" cy="38404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7548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IT'S USEFUL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Breaking the cost–quality frontier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ground truth is to train — but training every candidate cohort is exactly what's too expensive. xLift predicts that outcome at the cost of a handful of inference rollouts.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743200"/>
            <a:ext cx="82296" cy="841248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7889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GRPO oracle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14800" y="27889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GPU-hours per cohort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0" y="278892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70332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3703320"/>
            <a:ext cx="82296" cy="8412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7490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Grad-norm oracle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114800" y="37490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fwd-backward pass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0" y="374904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high, but fooled by weak verifiers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4663440"/>
            <a:ext cx="82296" cy="84124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7091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xLift signals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114800" y="47091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inference rollouts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0" y="470916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the lift ordering — cheaply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variance-based signals dominate the Pareto frontier — high predictive power at a fraction of the cost.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xLift  ·  Inference-Time Compute Hackathon  ·  Applied AI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4712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8872" cy="384048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7548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WE SHIPPED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Production-ready, and it runs on a laptop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148840"/>
            <a:ext cx="82296" cy="155448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295144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Model-relative engine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41248" y="2715768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Qwen2.5-1.5B rollout backend with async micro-batching; all signals scored on the model you train.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214884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72200" y="2148840"/>
            <a:ext cx="82296" cy="155448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1" name="Text 9"/>
          <p:cNvSpPr/>
          <p:nvPr/>
        </p:nvSpPr>
        <p:spPr>
          <a:xfrm>
            <a:off x="6464808" y="2295144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Validated science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64808" y="2715768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dspy.GEPA, bootstrap-CI lift, val/test split, idempotent resumable overnight pipeline.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886200"/>
            <a:ext cx="82296" cy="155448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" y="4032504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Tested on CPU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41248" y="4453128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Pure-logic + fake-backend end-to-end tests — the whole pipeline runs with no GPU, no API, no network.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72200" y="388620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72200" y="3886200"/>
            <a:ext cx="82296" cy="155448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9" name="Text 17"/>
          <p:cNvSpPr/>
          <p:nvPr/>
        </p:nvSpPr>
        <p:spPr>
          <a:xfrm>
            <a:off x="6464808" y="4032504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dashboard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64808" y="4453128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 HTML: predicted-vs-actual, inverted-U, reward-hack exhibit. Offline, can't crash on stage.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math, two markets:  </a:t>
            </a:r>
            <a:pPr algn="l" indent="0" marL="0">
              <a:buNone/>
            </a:pPr>
            <a:r>
              <a:rPr lang="en-US" sz="14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learnability that grades a training cohort also grades a human candidate — index the RL frontier and the talent frontier with one idea.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xLift  ·  Inference-Time Compute Hackathon  ·  Applied AI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4712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Buy the data that will actually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68680" y="27432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teach your model.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86968" y="384048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xLift turns the expensive question — will this data lift my model? — into a cheap, trustworthy measurement.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86968" y="521208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github.com/mssumanth/xlift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xLift  ·  Inference-Time Compute Hackathon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xLift</dc:title>
  <dc:subject>PptxGenJS Presentation</dc:subject>
  <dc:creator>Team xLift</dc:creator>
  <cp:lastModifiedBy>Team xLift</cp:lastModifiedBy>
  <cp:revision>1</cp:revision>
  <dcterms:created xsi:type="dcterms:W3CDTF">2026-06-20T14:13:40Z</dcterms:created>
  <dcterms:modified xsi:type="dcterms:W3CDTF">2026-06-20T14:13:40Z</dcterms:modified>
</cp:coreProperties>
</file>